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2" r:id="rId2"/>
    <p:sldId id="324" r:id="rId3"/>
    <p:sldId id="325" r:id="rId4"/>
    <p:sldId id="333" r:id="rId5"/>
    <p:sldId id="326" r:id="rId6"/>
    <p:sldId id="259" r:id="rId7"/>
    <p:sldId id="327" r:id="rId8"/>
    <p:sldId id="328" r:id="rId9"/>
    <p:sldId id="329" r:id="rId10"/>
    <p:sldId id="330" r:id="rId11"/>
    <p:sldId id="312" r:id="rId12"/>
    <p:sldId id="31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F4A"/>
    <a:srgbClr val="B0DB8B"/>
    <a:srgbClr val="D4ECBD"/>
    <a:srgbClr val="CAE0D2"/>
    <a:srgbClr val="B9E07B"/>
    <a:srgbClr val="86CFB8"/>
    <a:srgbClr val="D58A49"/>
    <a:srgbClr val="AED3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3FC14-AEDD-4B44-9842-06FAAB7D93E5}" v="85" dt="2025-06-25T13:24:13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17"/>
    <p:restoredTop sz="86215"/>
  </p:normalViewPr>
  <p:slideViewPr>
    <p:cSldViewPr snapToGrid="0">
      <p:cViewPr varScale="1">
        <p:scale>
          <a:sx n="95" d="100"/>
          <a:sy n="95" d="100"/>
        </p:scale>
        <p:origin x="1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256E5-1C8E-C849-ABDE-5526741FF00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9D106-8216-834B-B9F9-B443C4344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74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o-antigen, give a confidence matrix of the TFA and HTF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D106-8216-834B-B9F9-B443C4344C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57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blob cluster seqs in terms of </a:t>
            </a:r>
            <a:r>
              <a:rPr lang="en-US" dirty="0" err="1"/>
              <a:t>kmer</a:t>
            </a:r>
            <a:r>
              <a:rPr lang="en-US" dirty="0"/>
              <a:t> depth and </a:t>
            </a:r>
            <a:r>
              <a:rPr lang="en-US" dirty="0" err="1"/>
              <a:t>gc</a:t>
            </a:r>
            <a:r>
              <a:rPr lang="en-US" dirty="0"/>
              <a:t> content, </a:t>
            </a:r>
            <a:r>
              <a:rPr lang="en-US" dirty="0" err="1"/>
              <a:t>gc</a:t>
            </a:r>
            <a:r>
              <a:rPr lang="en-US" dirty="0"/>
              <a:t> content like this distribution, supp 3 all the isolate HTF with </a:t>
            </a:r>
            <a:r>
              <a:rPr lang="en-US" dirty="0" err="1"/>
              <a:t>wg</a:t>
            </a:r>
            <a:r>
              <a:rPr lang="en-US" dirty="0"/>
              <a:t> </a:t>
            </a:r>
            <a:r>
              <a:rPr lang="en-US" dirty="0" err="1"/>
              <a:t>kmer</a:t>
            </a:r>
            <a:r>
              <a:rPr lang="en-US" dirty="0"/>
              <a:t>...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no coinfection first,</a:t>
            </a:r>
          </a:p>
          <a:p>
            <a:endParaRPr lang="en-US" dirty="0"/>
          </a:p>
          <a:p>
            <a:r>
              <a:rPr lang="en-US" dirty="0"/>
              <a:t>Then PL0059… only the background first then overlap….,</a:t>
            </a:r>
          </a:p>
          <a:p>
            <a:r>
              <a:rPr lang="en-US" dirty="0"/>
              <a:t>Three slides, one for each isolate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</a:t>
            </a:r>
            <a:r>
              <a:rPr lang="en-US" dirty="0" err="1"/>
              <a:t>coinfecton</a:t>
            </a:r>
            <a:r>
              <a:rPr lang="en-US" dirty="0"/>
              <a:t>.. PL0240 then this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D106-8216-834B-B9F9-B443C4344C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19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blob cluster seqs in terms of </a:t>
            </a:r>
            <a:r>
              <a:rPr lang="en-US" dirty="0" err="1"/>
              <a:t>kmer</a:t>
            </a:r>
            <a:r>
              <a:rPr lang="en-US" dirty="0"/>
              <a:t> depth and </a:t>
            </a:r>
            <a:r>
              <a:rPr lang="en-US" dirty="0" err="1"/>
              <a:t>gc</a:t>
            </a:r>
            <a:r>
              <a:rPr lang="en-US" dirty="0"/>
              <a:t> content, </a:t>
            </a:r>
            <a:r>
              <a:rPr lang="en-US" dirty="0" err="1"/>
              <a:t>gc</a:t>
            </a:r>
            <a:r>
              <a:rPr lang="en-US" dirty="0"/>
              <a:t> content like this distribution, supp 3 all the isolate HTF with </a:t>
            </a:r>
            <a:r>
              <a:rPr lang="en-US" dirty="0" err="1"/>
              <a:t>wg</a:t>
            </a:r>
            <a:r>
              <a:rPr lang="en-US" dirty="0"/>
              <a:t> </a:t>
            </a:r>
            <a:r>
              <a:rPr lang="en-US" dirty="0" err="1"/>
              <a:t>kmer</a:t>
            </a:r>
            <a:r>
              <a:rPr lang="en-US" dirty="0"/>
              <a:t>...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no coinfection first,</a:t>
            </a:r>
          </a:p>
          <a:p>
            <a:endParaRPr lang="en-US" dirty="0"/>
          </a:p>
          <a:p>
            <a:r>
              <a:rPr lang="en-US" dirty="0"/>
              <a:t>Then PL0059… only the background first then overlap….,</a:t>
            </a:r>
          </a:p>
          <a:p>
            <a:r>
              <a:rPr lang="en-US" dirty="0"/>
              <a:t>Three slides, one for each isolate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</a:t>
            </a:r>
            <a:r>
              <a:rPr lang="en-US" dirty="0" err="1"/>
              <a:t>coinfecton</a:t>
            </a:r>
            <a:r>
              <a:rPr lang="en-US" dirty="0"/>
              <a:t>.. PL0240 then this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D106-8216-834B-B9F9-B443C4344C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5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blob cluster seqs in terms of </a:t>
            </a:r>
            <a:r>
              <a:rPr lang="en-US" dirty="0" err="1"/>
              <a:t>kmer</a:t>
            </a:r>
            <a:r>
              <a:rPr lang="en-US" dirty="0"/>
              <a:t> depth and </a:t>
            </a:r>
            <a:r>
              <a:rPr lang="en-US" dirty="0" err="1"/>
              <a:t>gc</a:t>
            </a:r>
            <a:r>
              <a:rPr lang="en-US" dirty="0"/>
              <a:t> content, </a:t>
            </a:r>
            <a:r>
              <a:rPr lang="en-US" dirty="0" err="1"/>
              <a:t>gc</a:t>
            </a:r>
            <a:r>
              <a:rPr lang="en-US" dirty="0"/>
              <a:t> content like this distribution, supp 3 all the isolate HTF with </a:t>
            </a:r>
            <a:r>
              <a:rPr lang="en-US" dirty="0" err="1"/>
              <a:t>wg</a:t>
            </a:r>
            <a:r>
              <a:rPr lang="en-US" dirty="0"/>
              <a:t> </a:t>
            </a:r>
            <a:r>
              <a:rPr lang="en-US" dirty="0" err="1"/>
              <a:t>kmer</a:t>
            </a:r>
            <a:r>
              <a:rPr lang="en-US" dirty="0"/>
              <a:t>...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no coinfection first,</a:t>
            </a:r>
          </a:p>
          <a:p>
            <a:endParaRPr lang="en-US" dirty="0"/>
          </a:p>
          <a:p>
            <a:r>
              <a:rPr lang="en-US" dirty="0"/>
              <a:t>Then PL0059… only the background first then overlap….,</a:t>
            </a:r>
          </a:p>
          <a:p>
            <a:r>
              <a:rPr lang="en-US" dirty="0"/>
              <a:t>Three slides, one for each isolate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</a:t>
            </a:r>
            <a:r>
              <a:rPr lang="en-US" dirty="0" err="1"/>
              <a:t>coinfecton</a:t>
            </a:r>
            <a:r>
              <a:rPr lang="en-US" dirty="0"/>
              <a:t>.. PL0240 then this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D106-8216-834B-B9F9-B443C4344C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59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blob cluster seqs in terms of </a:t>
            </a:r>
            <a:r>
              <a:rPr lang="en-US" dirty="0" err="1"/>
              <a:t>kmer</a:t>
            </a:r>
            <a:r>
              <a:rPr lang="en-US" dirty="0"/>
              <a:t> depth and </a:t>
            </a:r>
            <a:r>
              <a:rPr lang="en-US" dirty="0" err="1"/>
              <a:t>gc</a:t>
            </a:r>
            <a:r>
              <a:rPr lang="en-US" dirty="0"/>
              <a:t> content, </a:t>
            </a:r>
            <a:r>
              <a:rPr lang="en-US" dirty="0" err="1"/>
              <a:t>gc</a:t>
            </a:r>
            <a:r>
              <a:rPr lang="en-US" dirty="0"/>
              <a:t> content like this distribution, supp 3 all the isolate HTF with </a:t>
            </a:r>
            <a:r>
              <a:rPr lang="en-US" dirty="0" err="1"/>
              <a:t>wg</a:t>
            </a:r>
            <a:r>
              <a:rPr lang="en-US" dirty="0"/>
              <a:t> </a:t>
            </a:r>
            <a:r>
              <a:rPr lang="en-US" dirty="0" err="1"/>
              <a:t>kmer</a:t>
            </a:r>
            <a:r>
              <a:rPr lang="en-US" dirty="0"/>
              <a:t>...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no coinfection first,</a:t>
            </a:r>
          </a:p>
          <a:p>
            <a:endParaRPr lang="en-US" dirty="0"/>
          </a:p>
          <a:p>
            <a:r>
              <a:rPr lang="en-US" dirty="0"/>
              <a:t>Then PL0059… only the background first then overlap….,</a:t>
            </a:r>
          </a:p>
          <a:p>
            <a:r>
              <a:rPr lang="en-US" dirty="0"/>
              <a:t>Three slides, one for each isolate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</a:t>
            </a:r>
            <a:r>
              <a:rPr lang="en-US" dirty="0" err="1"/>
              <a:t>coinfecton</a:t>
            </a:r>
            <a:r>
              <a:rPr lang="en-US" dirty="0"/>
              <a:t>.. PL0240 then this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D106-8216-834B-B9F9-B443C4344C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83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5A81-3B7B-6E2F-A600-DCF07748F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D7049-422A-44F8-77DD-27AD86FBB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BF128-AF90-4D58-4EDF-E7515E09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3FCA9-5E26-6F7B-AD11-14072764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E6C9-4C1E-1FE2-9A4E-27927894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F1EA-8B3B-B391-552C-F2CD3C80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7157-0267-D8B0-D17F-3EFD4879E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88608-5070-32E4-9F49-4F2173F9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E829D-7E0F-25DD-AA02-46BC2155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B8-2F55-3A2A-DFC0-7C489208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67A5-CF26-510A-C69D-9C6C69A4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9F3C-F877-7B36-DBB5-491646A1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EB3A-5857-C568-21F8-90F3FEA3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A1A15-1B4B-7293-49E1-DD87C59F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01632-FFB5-3FCB-5C0D-404989B3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6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1010-BD28-361E-FCEC-2325D15C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A6A7F-7EAF-7DD5-7FBC-4DDB0A103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4F4BA-9168-A816-8307-3B9282622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5E485-8082-E649-9905-88D7235A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5551-FFE2-8DD3-3027-CA0B5671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789E-E2B6-CD8B-8F1E-E0B1DAEA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2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C02-EBB4-42AC-EF55-044CF6F6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0730A-E075-CC89-23A7-19C90595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16E34-6D2C-31DF-BC50-C4E171659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792E2-2FD1-F59E-157F-8B49F3523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65A91-40B3-9CBA-CD79-EF3A02ADC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CA158-3B70-BC81-273B-C15AE150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F6589-B9B3-A176-177C-A2C85DC9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2F30E-6273-F1D2-4478-9131C8E0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8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F45D-8BA3-59AF-04F1-5710D36C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6F3FF9-8088-A6DD-7962-A9E3788E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0288A-E4B4-B24E-0A35-5266E135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2E723-DF76-B1B7-0F89-274032EE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88417-2ABB-37CE-A4A1-84947E83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D8118-DC53-53CE-F03B-A4AE19AB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13F05-2A30-C34A-B3F2-F16299CC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1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F187-FCBC-E725-4B0C-AE6E36A9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5D5C-47AF-039B-2EB4-A9681E45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E6BC0-6A4A-0EF5-95E1-9A0000191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002FA-2E19-C1AB-CC13-11E33325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EA419-2A32-9D76-85B7-FA3DFE4B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E3947-A6E7-8B91-99F4-E819379B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3B16-41E6-9BCD-1EC3-C987A410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82609-96B2-C863-0791-E60845970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D966D-D18B-79C4-86DB-7BE80F2D8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4B08-E314-ED5A-53A9-E1ED34FA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48FDB-0544-8056-A759-787E21C4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F885E-9F4D-A920-7A08-9F50AAC2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A24A-8DF0-B09F-386B-A1032E68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66D5B-3D7C-39E1-8FAA-FD6E3CDA5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52EC-56B5-8C93-CF17-D968516D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C21E3-4444-4D13-F08E-2DCD13E5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DFAC7-340E-1666-C5AC-F2DA515C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1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B9370-4558-1CEF-C942-29821EDE9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36EAA-4F92-70E5-C734-8AE2DC83A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6F85-2196-2DE1-15E2-AEEA6C2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223F-A73C-A41A-0052-25A1F4A1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6A7E-FEF9-5D15-0AB4-A2D29249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5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21355-44D8-295F-2E9A-AB1B356B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32E88-D13D-61D1-238C-E702D6AF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C0060-D92B-FA29-A28B-C60AA6535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ABC11-4237-A549-BB53-4707F865414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A83C-F0E4-9ECF-8FF2-AB528BC08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47F2-26B3-9504-9459-6C7DC1663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8B67-270A-EB82-371E-71F125FAB7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Linking HTF haplotypes to O-antigen using local assembly and k-</a:t>
            </a:r>
            <a:r>
              <a:rPr lang="en-US" sz="4400" dirty="0" err="1"/>
              <a:t>mer</a:t>
            </a:r>
            <a:r>
              <a:rPr lang="en-US" sz="4400" dirty="0"/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E294A-9612-7F14-1464-91D8F997F7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jiajun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6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C8A3-87C9-763A-4232-A700AC12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573E-8A9C-B43E-5521-A2FFFB6F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1. Are the isolates that </a:t>
            </a:r>
            <a:r>
              <a:rPr lang="en-GB" dirty="0">
                <a:solidFill>
                  <a:srgbClr val="C00000"/>
                </a:solidFill>
              </a:rPr>
              <a:t>break</a:t>
            </a:r>
            <a:r>
              <a:rPr lang="en-GB" dirty="0"/>
              <a:t> the expected O-antigen–HTF group association pattern authentic?</a:t>
            </a:r>
          </a:p>
          <a:p>
            <a:pPr marL="0" indent="0">
              <a:buNone/>
            </a:pPr>
            <a:r>
              <a:rPr lang="en-GB" dirty="0"/>
              <a:t>2. Is there evidence of </a:t>
            </a:r>
            <a:r>
              <a:rPr lang="en-GB" dirty="0">
                <a:solidFill>
                  <a:srgbClr val="C00000"/>
                </a:solidFill>
              </a:rPr>
              <a:t>co-infection</a:t>
            </a:r>
            <a:r>
              <a:rPr lang="en-GB" dirty="0"/>
              <a:t> among our historical herbarium-derived ATUE5 genomes? </a:t>
            </a:r>
          </a:p>
        </p:txBody>
      </p:sp>
    </p:spTree>
    <p:extLst>
      <p:ext uri="{BB962C8B-B14F-4D97-AF65-F5344CB8AC3E}">
        <p14:creationId xmlns:p14="http://schemas.microsoft.com/office/powerpoint/2010/main" val="106185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C8A3-87C9-763A-4232-A700AC12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573E-8A9C-B43E-5521-A2FFFB6F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1. Are the isolates that </a:t>
            </a:r>
            <a:r>
              <a:rPr lang="en-GB" dirty="0">
                <a:solidFill>
                  <a:srgbClr val="C00000"/>
                </a:solidFill>
              </a:rPr>
              <a:t>break</a:t>
            </a:r>
            <a:r>
              <a:rPr lang="en-GB" dirty="0"/>
              <a:t> the expected O-antigen–HTF group association pattern authentic?</a:t>
            </a:r>
          </a:p>
        </p:txBody>
      </p:sp>
    </p:spTree>
    <p:extLst>
      <p:ext uri="{BB962C8B-B14F-4D97-AF65-F5344CB8AC3E}">
        <p14:creationId xmlns:p14="http://schemas.microsoft.com/office/powerpoint/2010/main" val="3773368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6094-FECA-3951-2FEE-FC7050A41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DD153A78-1831-F148-4742-8C817E00D065}"/>
              </a:ext>
            </a:extLst>
          </p:cNvPr>
          <p:cNvSpPr/>
          <p:nvPr/>
        </p:nvSpPr>
        <p:spPr>
          <a:xfrm rot="10800000" flipV="1">
            <a:off x="1963756" y="2754863"/>
            <a:ext cx="2734245" cy="307777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HTF </a:t>
            </a:r>
            <a:r>
              <a:rPr lang="en-US" sz="1400" dirty="0" err="1">
                <a:solidFill>
                  <a:schemeClr val="tx1"/>
                </a:solidFill>
              </a:rPr>
              <a:t>kmer</a:t>
            </a:r>
            <a:r>
              <a:rPr lang="en-US" sz="1400" dirty="0">
                <a:solidFill>
                  <a:schemeClr val="tx1"/>
                </a:solidFill>
              </a:rPr>
              <a:t>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F4AAC-593F-3221-CE43-E8B141A9938E}"/>
              </a:ext>
            </a:extLst>
          </p:cNvPr>
          <p:cNvSpPr txBox="1"/>
          <p:nvPr/>
        </p:nvSpPr>
        <p:spPr>
          <a:xfrm>
            <a:off x="535968" y="103201"/>
            <a:ext cx="10800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PL0240 is a true exception, while 64.GBR_1933b_S36 links HTF_p7.G11 with O-antigen absence with uncertainty.</a:t>
            </a:r>
          </a:p>
        </p:txBody>
      </p:sp>
      <p:pic>
        <p:nvPicPr>
          <p:cNvPr id="11" name="Picture 1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9D47FC9-B387-B561-A8F7-1718D41538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836"/>
          <a:stretch/>
        </p:blipFill>
        <p:spPr>
          <a:xfrm>
            <a:off x="8917416" y="3719081"/>
            <a:ext cx="2490901" cy="88733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3AB4358E-105C-CD51-7668-B1B18A9C63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46" t="47023"/>
          <a:stretch/>
        </p:blipFill>
        <p:spPr>
          <a:xfrm>
            <a:off x="6492834" y="3719082"/>
            <a:ext cx="2548215" cy="93951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4" name="Picture 2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0ABC893-A369-6028-0D97-C364AA8C19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05" t="16809" b="52260"/>
          <a:stretch/>
        </p:blipFill>
        <p:spPr>
          <a:xfrm>
            <a:off x="9176811" y="5478960"/>
            <a:ext cx="2194364" cy="516265"/>
          </a:xfrm>
          <a:prstGeom prst="rect">
            <a:avLst/>
          </a:prstGeom>
        </p:spPr>
      </p:pic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CB9DB350-15F1-0525-1D6C-DA8B49E172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07" t="22740" b="56493"/>
          <a:stretch/>
        </p:blipFill>
        <p:spPr>
          <a:xfrm>
            <a:off x="6565422" y="5469820"/>
            <a:ext cx="2490902" cy="368280"/>
          </a:xfrm>
          <a:prstGeom prst="rect">
            <a:avLst/>
          </a:prstGeom>
        </p:spPr>
      </p:pic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65770840-3146-24CC-AFFF-4FC9E7F892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56" t="27963" b="45113"/>
          <a:stretch/>
        </p:blipFill>
        <p:spPr>
          <a:xfrm>
            <a:off x="8992020" y="6320905"/>
            <a:ext cx="2415975" cy="390860"/>
          </a:xfrm>
          <a:prstGeom prst="rect">
            <a:avLst/>
          </a:prstGeom>
        </p:spPr>
      </p:pic>
      <p:pic>
        <p:nvPicPr>
          <p:cNvPr id="27" name="Picture 26" descr="A screenshot of a computer&#10;&#10;Description automatically generated">
            <a:extLst>
              <a:ext uri="{FF2B5EF4-FFF2-40B4-BE49-F238E27FC236}">
                <a16:creationId xmlns:a16="http://schemas.microsoft.com/office/drawing/2014/main" id="{EDBD8400-93FA-DFC0-E92E-92DF9071DF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558" t="29519" b="45113"/>
          <a:stretch/>
        </p:blipFill>
        <p:spPr>
          <a:xfrm>
            <a:off x="6602564" y="6297093"/>
            <a:ext cx="2415975" cy="3682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E3E2728-E396-1842-DF30-221307AA8970}"/>
              </a:ext>
            </a:extLst>
          </p:cNvPr>
          <p:cNvSpPr txBox="1"/>
          <p:nvPr/>
        </p:nvSpPr>
        <p:spPr>
          <a:xfrm>
            <a:off x="51988" y="2126067"/>
            <a:ext cx="162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64.GBR_1933b_S36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2F9CCA-EE29-BE8A-3608-10890C3D77E1}"/>
              </a:ext>
            </a:extLst>
          </p:cNvPr>
          <p:cNvSpPr txBox="1"/>
          <p:nvPr/>
        </p:nvSpPr>
        <p:spPr>
          <a:xfrm>
            <a:off x="537210" y="1391059"/>
            <a:ext cx="718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PL0240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42EA8E-141D-72E0-9679-DD2A45AB5518}"/>
              </a:ext>
            </a:extLst>
          </p:cNvPr>
          <p:cNvCxnSpPr>
            <a:cxnSpLocks/>
          </p:cNvCxnSpPr>
          <p:nvPr/>
        </p:nvCxnSpPr>
        <p:spPr>
          <a:xfrm>
            <a:off x="1622432" y="963827"/>
            <a:ext cx="9808074" cy="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126619C-ED9A-6D42-E250-4A88B2D9E5B5}"/>
              </a:ext>
            </a:extLst>
          </p:cNvPr>
          <p:cNvCxnSpPr>
            <a:cxnSpLocks/>
          </p:cNvCxnSpPr>
          <p:nvPr/>
        </p:nvCxnSpPr>
        <p:spPr>
          <a:xfrm>
            <a:off x="6492835" y="3668360"/>
            <a:ext cx="2548215" cy="0"/>
          </a:xfrm>
          <a:prstGeom prst="straightConnector1">
            <a:avLst/>
          </a:prstGeom>
          <a:ln w="25400">
            <a:solidFill>
              <a:srgbClr val="86CFB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C6CAFA6-1294-726D-7CA7-8099FB828258}"/>
              </a:ext>
            </a:extLst>
          </p:cNvPr>
          <p:cNvSpPr txBox="1"/>
          <p:nvPr/>
        </p:nvSpPr>
        <p:spPr>
          <a:xfrm>
            <a:off x="6982245" y="3334494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6CFB8"/>
                </a:solidFill>
              </a:rPr>
              <a:t>TFA_p21.F9 1-498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B7DE92-96CE-D3A4-0720-DAC8D0F04F2B}"/>
              </a:ext>
            </a:extLst>
          </p:cNvPr>
          <p:cNvCxnSpPr>
            <a:cxnSpLocks/>
          </p:cNvCxnSpPr>
          <p:nvPr/>
        </p:nvCxnSpPr>
        <p:spPr>
          <a:xfrm>
            <a:off x="9145620" y="3668360"/>
            <a:ext cx="2262697" cy="0"/>
          </a:xfrm>
          <a:prstGeom prst="straightConnector1">
            <a:avLst/>
          </a:prstGeom>
          <a:ln w="25400">
            <a:solidFill>
              <a:srgbClr val="86CFB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0E40D82-8E2A-7739-D56D-0B05E2282F6E}"/>
              </a:ext>
            </a:extLst>
          </p:cNvPr>
          <p:cNvSpPr txBox="1"/>
          <p:nvPr/>
        </p:nvSpPr>
        <p:spPr>
          <a:xfrm>
            <a:off x="9540333" y="3334493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6CFB8"/>
                </a:solidFill>
              </a:rPr>
              <a:t>HTF_p21.F9 1-1245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C10AA5D-C967-F310-4EB0-63F247759213}"/>
              </a:ext>
            </a:extLst>
          </p:cNvPr>
          <p:cNvCxnSpPr>
            <a:cxnSpLocks/>
          </p:cNvCxnSpPr>
          <p:nvPr/>
        </p:nvCxnSpPr>
        <p:spPr>
          <a:xfrm>
            <a:off x="6492835" y="6245228"/>
            <a:ext cx="2548215" cy="0"/>
          </a:xfrm>
          <a:prstGeom prst="straightConnector1">
            <a:avLst/>
          </a:prstGeom>
          <a:ln w="25400">
            <a:solidFill>
              <a:srgbClr val="B9E07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DA1680E-3615-8073-EA72-9D3EC8D17496}"/>
              </a:ext>
            </a:extLst>
          </p:cNvPr>
          <p:cNvSpPr txBox="1"/>
          <p:nvPr/>
        </p:nvSpPr>
        <p:spPr>
          <a:xfrm>
            <a:off x="6982245" y="5911362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B9E07B"/>
                </a:solidFill>
              </a:rPr>
              <a:t>TFA_p7.G11 1-546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8AC4458-720F-6AA0-4A1B-556ED9B04721}"/>
              </a:ext>
            </a:extLst>
          </p:cNvPr>
          <p:cNvCxnSpPr>
            <a:cxnSpLocks/>
          </p:cNvCxnSpPr>
          <p:nvPr/>
        </p:nvCxnSpPr>
        <p:spPr>
          <a:xfrm>
            <a:off x="9145620" y="6245228"/>
            <a:ext cx="2262697" cy="0"/>
          </a:xfrm>
          <a:prstGeom prst="straightConnector1">
            <a:avLst/>
          </a:prstGeom>
          <a:ln w="25400">
            <a:solidFill>
              <a:srgbClr val="B9E07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783AA5A-694E-C14A-FFDB-30416F94FB41}"/>
              </a:ext>
            </a:extLst>
          </p:cNvPr>
          <p:cNvSpPr txBox="1"/>
          <p:nvPr/>
        </p:nvSpPr>
        <p:spPr>
          <a:xfrm>
            <a:off x="9540333" y="5911361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B9E07B"/>
                </a:solidFill>
              </a:rPr>
              <a:t>HTF_p7.G11 1-1830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6562DF4-C0FC-5FFE-1607-E1E746924A29}"/>
              </a:ext>
            </a:extLst>
          </p:cNvPr>
          <p:cNvCxnSpPr>
            <a:cxnSpLocks/>
          </p:cNvCxnSpPr>
          <p:nvPr/>
        </p:nvCxnSpPr>
        <p:spPr>
          <a:xfrm>
            <a:off x="6492835" y="5417954"/>
            <a:ext cx="2548215" cy="0"/>
          </a:xfrm>
          <a:prstGeom prst="straightConnector1">
            <a:avLst/>
          </a:prstGeom>
          <a:ln w="25400">
            <a:solidFill>
              <a:srgbClr val="86CFB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8BE5A81-6346-7C94-65A8-9820092315E7}"/>
              </a:ext>
            </a:extLst>
          </p:cNvPr>
          <p:cNvSpPr txBox="1"/>
          <p:nvPr/>
        </p:nvSpPr>
        <p:spPr>
          <a:xfrm>
            <a:off x="6982245" y="5084088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6CFB8"/>
                </a:solidFill>
              </a:rPr>
              <a:t>TFA_p21.F9 1-498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56E7DC6-1639-BD97-4243-CCDD628C2252}"/>
              </a:ext>
            </a:extLst>
          </p:cNvPr>
          <p:cNvCxnSpPr>
            <a:cxnSpLocks/>
          </p:cNvCxnSpPr>
          <p:nvPr/>
        </p:nvCxnSpPr>
        <p:spPr>
          <a:xfrm>
            <a:off x="9145620" y="5417954"/>
            <a:ext cx="2262697" cy="0"/>
          </a:xfrm>
          <a:prstGeom prst="straightConnector1">
            <a:avLst/>
          </a:prstGeom>
          <a:ln w="25400">
            <a:solidFill>
              <a:srgbClr val="86CFB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EC81A6F-98DB-ED18-99EA-7DC0B96A2A8B}"/>
              </a:ext>
            </a:extLst>
          </p:cNvPr>
          <p:cNvSpPr txBox="1"/>
          <p:nvPr/>
        </p:nvSpPr>
        <p:spPr>
          <a:xfrm>
            <a:off x="9540333" y="5084087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6CFB8"/>
                </a:solidFill>
              </a:rPr>
              <a:t>HTF_p21.F9 1-1245</a:t>
            </a:r>
          </a:p>
        </p:txBody>
      </p:sp>
      <p:pic>
        <p:nvPicPr>
          <p:cNvPr id="66" name="Picture 65" descr="A close-up of a screen&#10;&#10;Description automatically generated">
            <a:extLst>
              <a:ext uri="{FF2B5EF4-FFF2-40B4-BE49-F238E27FC236}">
                <a16:creationId xmlns:a16="http://schemas.microsoft.com/office/drawing/2014/main" id="{BF970EBD-C2F9-E535-B317-2118D40914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972" t="36437"/>
          <a:stretch/>
        </p:blipFill>
        <p:spPr>
          <a:xfrm>
            <a:off x="1622432" y="1058927"/>
            <a:ext cx="9844121" cy="1036871"/>
          </a:xfrm>
          <a:prstGeom prst="rect">
            <a:avLst/>
          </a:prstGeom>
        </p:spPr>
      </p:pic>
      <p:pic>
        <p:nvPicPr>
          <p:cNvPr id="8" name="Picture 7" descr="A close-up of a screen&#10;&#10;Description automatically generated">
            <a:extLst>
              <a:ext uri="{FF2B5EF4-FFF2-40B4-BE49-F238E27FC236}">
                <a16:creationId xmlns:a16="http://schemas.microsoft.com/office/drawing/2014/main" id="{EBEDB5F5-0D8E-F51E-62BE-8410AF2CBEB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972" b="63021"/>
          <a:stretch/>
        </p:blipFill>
        <p:spPr>
          <a:xfrm>
            <a:off x="1622432" y="2035592"/>
            <a:ext cx="9844121" cy="603218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E06A02D4-44E6-7E88-439E-08221149197D}"/>
              </a:ext>
            </a:extLst>
          </p:cNvPr>
          <p:cNvSpPr txBox="1"/>
          <p:nvPr/>
        </p:nvSpPr>
        <p:spPr>
          <a:xfrm rot="16200000">
            <a:off x="-275248" y="5746660"/>
            <a:ext cx="162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64.GBR_1933b_S36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524934-1F91-8BF1-DDDA-0A5EAD148D36}"/>
              </a:ext>
            </a:extLst>
          </p:cNvPr>
          <p:cNvSpPr txBox="1"/>
          <p:nvPr/>
        </p:nvSpPr>
        <p:spPr>
          <a:xfrm rot="16200000">
            <a:off x="176736" y="3815060"/>
            <a:ext cx="718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PL0240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7489B655-6AE1-824F-37FE-1FE65B892140}"/>
              </a:ext>
            </a:extLst>
          </p:cNvPr>
          <p:cNvSpPr/>
          <p:nvPr/>
        </p:nvSpPr>
        <p:spPr>
          <a:xfrm rot="10800000" flipV="1">
            <a:off x="6406353" y="2754863"/>
            <a:ext cx="5024153" cy="307777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TFA and HTF alignment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1945B343-1F6F-99E8-945E-6FE6A690FAD7}"/>
              </a:ext>
            </a:extLst>
          </p:cNvPr>
          <p:cNvSpPr/>
          <p:nvPr/>
        </p:nvSpPr>
        <p:spPr>
          <a:xfrm rot="10800000" flipV="1">
            <a:off x="1586381" y="587721"/>
            <a:ext cx="9844123" cy="260054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Tailocin</a:t>
            </a:r>
            <a:r>
              <a:rPr lang="en-US" sz="1400" dirty="0">
                <a:solidFill>
                  <a:schemeClr val="tx1"/>
                </a:solidFill>
              </a:rPr>
              <a:t> 1-18057 alignment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8151F1-256F-1340-AEE0-0D6B68257C94}"/>
              </a:ext>
            </a:extLst>
          </p:cNvPr>
          <p:cNvSpPr/>
          <p:nvPr/>
        </p:nvSpPr>
        <p:spPr>
          <a:xfrm>
            <a:off x="6593966" y="5507940"/>
            <a:ext cx="1731540" cy="3682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5E4FE-F421-3907-CDB5-2DA0D1647D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9786" y="3209357"/>
            <a:ext cx="2548215" cy="1820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7958DF-B33D-7DA4-4E0A-A7D6BDA4C3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9785" y="5029511"/>
            <a:ext cx="2734246" cy="195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4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32" grpId="0"/>
      <p:bldP spid="33" grpId="0"/>
      <p:bldP spid="38" grpId="0"/>
      <p:bldP spid="44" grpId="0"/>
      <p:bldP spid="58" grpId="0"/>
      <p:bldP spid="60" grpId="0"/>
      <p:bldP spid="63" grpId="0"/>
      <p:bldP spid="65" grpId="0"/>
      <p:bldP spid="67" grpId="0"/>
      <p:bldP spid="68" grpId="0"/>
      <p:bldP spid="73" grpId="0" animBg="1"/>
      <p:bldP spid="74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C8A3-87C9-763A-4232-A700AC12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573E-8A9C-B43E-5521-A2FFFB6F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2. Is there evidence of </a:t>
            </a:r>
            <a:r>
              <a:rPr lang="en-GB" dirty="0">
                <a:solidFill>
                  <a:srgbClr val="C00000"/>
                </a:solidFill>
              </a:rPr>
              <a:t>co-infection</a:t>
            </a:r>
            <a:r>
              <a:rPr lang="en-GB" dirty="0"/>
              <a:t> among our historical herbarium-derived ATUE5 genomes? </a:t>
            </a:r>
          </a:p>
        </p:txBody>
      </p:sp>
    </p:spTree>
    <p:extLst>
      <p:ext uri="{BB962C8B-B14F-4D97-AF65-F5344CB8AC3E}">
        <p14:creationId xmlns:p14="http://schemas.microsoft.com/office/powerpoint/2010/main" val="4144741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2C62-9255-7782-C2CD-6CD3C5D0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691D14-772D-9ACE-3E15-EB1F0C8C8AEB}"/>
              </a:ext>
            </a:extLst>
          </p:cNvPr>
          <p:cNvSpPr txBox="1"/>
          <p:nvPr/>
        </p:nvSpPr>
        <p:spPr>
          <a:xfrm>
            <a:off x="244153" y="302011"/>
            <a:ext cx="939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Three historical isolates show a two-peak k-</a:t>
            </a:r>
            <a:r>
              <a:rPr lang="en-GB" b="1" dirty="0" err="1"/>
              <a:t>mer</a:t>
            </a:r>
            <a:r>
              <a:rPr lang="en-GB" b="1" dirty="0"/>
              <a:t> depth pattern, suggesting potential co-infection.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46A775-6ED7-C6A9-BA06-2D8DEBEEDB23}"/>
              </a:ext>
            </a:extLst>
          </p:cNvPr>
          <p:cNvSpPr txBox="1"/>
          <p:nvPr/>
        </p:nvSpPr>
        <p:spPr>
          <a:xfrm>
            <a:off x="244153" y="1223639"/>
            <a:ext cx="183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no co-infection: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F688E3-D4EF-6993-5603-845AEA27A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88" y="2095358"/>
            <a:ext cx="4954604" cy="3539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7E4F10-EB95-A7D5-47AC-17AACA86E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410" y="2095358"/>
            <a:ext cx="5260144" cy="375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81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2C62-9255-7782-C2CD-6CD3C5D0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691D14-772D-9ACE-3E15-EB1F0C8C8AEB}"/>
              </a:ext>
            </a:extLst>
          </p:cNvPr>
          <p:cNvSpPr txBox="1"/>
          <p:nvPr/>
        </p:nvSpPr>
        <p:spPr>
          <a:xfrm>
            <a:off x="244153" y="302011"/>
            <a:ext cx="939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Three historical isolates show a two-peak k-</a:t>
            </a:r>
            <a:r>
              <a:rPr lang="en-GB" b="1" dirty="0" err="1"/>
              <a:t>mer</a:t>
            </a:r>
            <a:r>
              <a:rPr lang="en-GB" b="1" dirty="0"/>
              <a:t> depth pattern, suggesting potential co-infection.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CE899-D80D-DCC5-FEAE-F0B78F9C8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82" y="2793759"/>
            <a:ext cx="4636477" cy="3311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696194-BB76-7924-7B87-6F9D883E1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8" y="2558046"/>
            <a:ext cx="5597120" cy="399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02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2C62-9255-7782-C2CD-6CD3C5D0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691D14-772D-9ACE-3E15-EB1F0C8C8AEB}"/>
              </a:ext>
            </a:extLst>
          </p:cNvPr>
          <p:cNvSpPr txBox="1"/>
          <p:nvPr/>
        </p:nvSpPr>
        <p:spPr>
          <a:xfrm>
            <a:off x="244153" y="302011"/>
            <a:ext cx="939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Three historical isolates show a two-peak k-</a:t>
            </a:r>
            <a:r>
              <a:rPr lang="en-GB" b="1" dirty="0" err="1"/>
              <a:t>mer</a:t>
            </a:r>
            <a:r>
              <a:rPr lang="en-GB" b="1" dirty="0"/>
              <a:t> depth pattern, suggesting potential co-infection.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897C5E-05B9-52AF-EEFE-7B2F5CE1121F}"/>
              </a:ext>
            </a:extLst>
          </p:cNvPr>
          <p:cNvSpPr txBox="1"/>
          <p:nvPr/>
        </p:nvSpPr>
        <p:spPr>
          <a:xfrm>
            <a:off x="244153" y="948342"/>
            <a:ext cx="738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HTF unique </a:t>
            </a:r>
            <a:r>
              <a:rPr lang="en-US" dirty="0" err="1"/>
              <a:t>kmer</a:t>
            </a:r>
            <a:r>
              <a:rPr lang="en-US" dirty="0"/>
              <a:t> count and co-infection potential of three historical samples: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3A61C-F372-F75F-A6C7-4FA507E8F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" y="1718131"/>
            <a:ext cx="5621013" cy="4015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4C4836-1BFF-4136-FD8C-0682202A9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967" y="1830014"/>
            <a:ext cx="5307740" cy="379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2C62-9255-7782-C2CD-6CD3C5D0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691D14-772D-9ACE-3E15-EB1F0C8C8AEB}"/>
              </a:ext>
            </a:extLst>
          </p:cNvPr>
          <p:cNvSpPr txBox="1"/>
          <p:nvPr/>
        </p:nvSpPr>
        <p:spPr>
          <a:xfrm>
            <a:off x="244153" y="302011"/>
            <a:ext cx="939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Three historical isolates show a two-peak k-</a:t>
            </a:r>
            <a:r>
              <a:rPr lang="en-GB" b="1" dirty="0" err="1"/>
              <a:t>mer</a:t>
            </a:r>
            <a:r>
              <a:rPr lang="en-GB" b="1" dirty="0"/>
              <a:t> depth pattern, suggesting potential co-infection.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897C5E-05B9-52AF-EEFE-7B2F5CE1121F}"/>
              </a:ext>
            </a:extLst>
          </p:cNvPr>
          <p:cNvSpPr txBox="1"/>
          <p:nvPr/>
        </p:nvSpPr>
        <p:spPr>
          <a:xfrm>
            <a:off x="244153" y="948342"/>
            <a:ext cx="738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HTF unique </a:t>
            </a:r>
            <a:r>
              <a:rPr lang="en-US" dirty="0" err="1"/>
              <a:t>kmer</a:t>
            </a:r>
            <a:r>
              <a:rPr lang="en-US" dirty="0"/>
              <a:t> count and co-infection potential of three historical samples: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46EB50-199C-7971-2FDF-442C1D972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54" y="2379785"/>
            <a:ext cx="5819954" cy="4157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CC851D-AC90-8F01-A9EE-1F684A3C0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094" y="2379784"/>
            <a:ext cx="5819955" cy="415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11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C8A3-87C9-763A-4232-A700AC12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573E-8A9C-B43E-5521-A2FFFB6F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Q1: Are the isolates that </a:t>
            </a:r>
            <a:r>
              <a:rPr lang="en-GB" dirty="0">
                <a:solidFill>
                  <a:srgbClr val="C00000"/>
                </a:solidFill>
              </a:rPr>
              <a:t>break</a:t>
            </a:r>
            <a:r>
              <a:rPr lang="en-GB" dirty="0"/>
              <a:t> the expected O-antigen–HTF group association pattern authentic?</a:t>
            </a:r>
          </a:p>
          <a:p>
            <a:pPr marL="0" indent="0">
              <a:buNone/>
            </a:pPr>
            <a:r>
              <a:rPr lang="en-GB" b="1" dirty="0"/>
              <a:t>A1: PL0240 is a true exception, while 64.GBR_1933b_S36 not sure.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Q2: Is there evidence of </a:t>
            </a:r>
            <a:r>
              <a:rPr lang="en-GB" dirty="0">
                <a:solidFill>
                  <a:srgbClr val="C00000"/>
                </a:solidFill>
              </a:rPr>
              <a:t>co-infection</a:t>
            </a:r>
            <a:r>
              <a:rPr lang="en-GB" dirty="0"/>
              <a:t> among our historical herbarium-derived ATUE5 genomes? </a:t>
            </a:r>
          </a:p>
          <a:p>
            <a:pPr marL="0" indent="0">
              <a:buNone/>
            </a:pPr>
            <a:r>
              <a:rPr lang="en-GB" b="1" dirty="0"/>
              <a:t>A2: Three historical isolates show a two-peak k-</a:t>
            </a:r>
            <a:r>
              <a:rPr lang="en-GB" b="1" dirty="0" err="1"/>
              <a:t>mer</a:t>
            </a:r>
            <a:r>
              <a:rPr lang="en-GB" b="1" dirty="0"/>
              <a:t> depth pattern, suggesting potential co-infection.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3119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4FB4-D8EC-5FB1-0BAD-BA47C909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952" y="2766218"/>
            <a:ext cx="10515600" cy="132556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05566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BC454-E98C-7F19-524A-6A54E17A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367" y="-115870"/>
            <a:ext cx="10515600" cy="1325563"/>
          </a:xfrm>
        </p:spPr>
        <p:txBody>
          <a:bodyPr/>
          <a:lstStyle/>
          <a:p>
            <a:r>
              <a:rPr lang="en-US" dirty="0"/>
              <a:t>Heterozygosity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FFB59E-31BE-66B3-DB5F-D93C3E2C9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208" y="1352260"/>
            <a:ext cx="3115110" cy="207674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356D2B-3437-88B5-25EB-A41121890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171" y="1381809"/>
            <a:ext cx="3339786" cy="22265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9BD38B-23B0-5644-07DE-97D8FCBB5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326" y="1369217"/>
            <a:ext cx="3334020" cy="2222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B17D9D-DAD8-6802-84D3-4C4F4741B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05" y="4433092"/>
            <a:ext cx="3334021" cy="22226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9D837D-9C33-D4A3-76D3-51FDFB03E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1560" y="4433092"/>
            <a:ext cx="3339786" cy="22265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791647-4378-1426-191C-37207079F1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34" y="4430638"/>
            <a:ext cx="3339786" cy="22265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C0FFE2-B046-895B-9EFB-70F371A82DC3}"/>
              </a:ext>
            </a:extLst>
          </p:cNvPr>
          <p:cNvSpPr txBox="1"/>
          <p:nvPr/>
        </p:nvSpPr>
        <p:spPr>
          <a:xfrm>
            <a:off x="1316182" y="3934691"/>
            <a:ext cx="155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coinfection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E7A083-D9B7-AE61-812C-E663BDCC1026}"/>
              </a:ext>
            </a:extLst>
          </p:cNvPr>
          <p:cNvSpPr txBox="1"/>
          <p:nvPr/>
        </p:nvSpPr>
        <p:spPr>
          <a:xfrm>
            <a:off x="352745" y="914749"/>
            <a:ext cx="5028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Potential coinfection identified by </a:t>
            </a:r>
            <a:r>
              <a:rPr lang="en-US" dirty="0" err="1"/>
              <a:t>kmer</a:t>
            </a:r>
            <a:r>
              <a:rPr lang="en-US" dirty="0"/>
              <a:t> distribution</a:t>
            </a:r>
          </a:p>
        </p:txBody>
      </p:sp>
    </p:spTree>
    <p:extLst>
      <p:ext uri="{BB962C8B-B14F-4D97-AF65-F5344CB8AC3E}">
        <p14:creationId xmlns:p14="http://schemas.microsoft.com/office/powerpoint/2010/main" val="116274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2897</TotalTime>
  <Words>576</Words>
  <Application>Microsoft Macintosh PowerPoint</Application>
  <PresentationFormat>Widescreen</PresentationFormat>
  <Paragraphs>94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Linking HTF haplotypes to O-antigen using local assembly and k-mer analysis</vt:lpstr>
      <vt:lpstr>Questions:</vt:lpstr>
      <vt:lpstr>Questions:</vt:lpstr>
      <vt:lpstr>PowerPoint Presentation</vt:lpstr>
      <vt:lpstr>Questions:</vt:lpstr>
      <vt:lpstr>PowerPoint Presentation</vt:lpstr>
      <vt:lpstr>PowerPoint Presentation</vt:lpstr>
      <vt:lpstr>PowerPoint Presentation</vt:lpstr>
      <vt:lpstr>PowerPoint Presentation</vt:lpstr>
      <vt:lpstr>Questions:</vt:lpstr>
      <vt:lpstr>Thank you</vt:lpstr>
      <vt:lpstr>Heterozygosity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Cui, Jiajun</dc:creator>
  <cp:lastModifiedBy>Cui, Jiajun</cp:lastModifiedBy>
  <cp:revision>44</cp:revision>
  <dcterms:created xsi:type="dcterms:W3CDTF">2025-05-07T01:06:08Z</dcterms:created>
  <dcterms:modified xsi:type="dcterms:W3CDTF">2025-10-30T13:02:27Z</dcterms:modified>
</cp:coreProperties>
</file>