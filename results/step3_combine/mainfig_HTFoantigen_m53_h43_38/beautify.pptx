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339" r:id="rId5"/>
    <p:sldId id="340" r:id="rId6"/>
    <p:sldId id="338" r:id="rId7"/>
    <p:sldId id="33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1033"/>
    <a:srgbClr val="FAD42A"/>
    <a:srgbClr val="B21A2A"/>
    <a:srgbClr val="D0B7D8"/>
    <a:srgbClr val="F7D7FE"/>
    <a:srgbClr val="A6631A"/>
    <a:srgbClr val="1A9E77"/>
    <a:srgbClr val="2165AC"/>
    <a:srgbClr val="969696"/>
    <a:srgbClr val="638C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904"/>
    <p:restoredTop sz="97030"/>
  </p:normalViewPr>
  <p:slideViewPr>
    <p:cSldViewPr snapToGrid="0">
      <p:cViewPr>
        <p:scale>
          <a:sx n="65" d="100"/>
          <a:sy n="65" d="100"/>
        </p:scale>
        <p:origin x="2896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E5EFEB-AEDE-FC4C-BD98-BCAAA9CB9605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D9B3D-DECE-ED40-8634-CBD0E42E6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07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5A81-3B7B-6E2F-A600-DCF07748F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D7049-422A-44F8-77DD-27AD86FBB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BF128-AF90-4D58-4EDF-E7515E09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3FCA9-5E26-6F7B-AD11-14072764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E6C9-4C1E-1FE2-9A4E-27927894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1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F1EA-8B3B-B391-552C-F2CD3C80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7157-0267-D8B0-D17F-3EFD4879E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88608-5070-32E4-9F49-4F2173F9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E829D-7E0F-25DD-AA02-46BC2155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2BB8-2F55-3A2A-DFC0-7C489208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67A5-CF26-510A-C69D-9C6C69A4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9F3C-F877-7B36-DBB5-491646A12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0EB3A-5857-C568-21F8-90F3FEA3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A1A15-1B4B-7293-49E1-DD87C59F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01632-FFB5-3FCB-5C0D-404989B3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6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1010-BD28-361E-FCEC-2325D15C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A6A7F-7EAF-7DD5-7FBC-4DDB0A103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4F4BA-9168-A816-8307-3B9282622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5E485-8082-E649-9905-88D7235A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05551-FFE2-8DD3-3027-CA0B5671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789E-E2B6-CD8B-8F1E-E0B1DAEA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2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AC02-EBB4-42AC-EF55-044CF6F6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0730A-E075-CC89-23A7-19C90595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16E34-6D2C-31DF-BC50-C4E171659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792E2-2FD1-F59E-157F-8B49F3523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65A91-40B3-9CBA-CD79-EF3A02ADC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CA158-3B70-BC81-273B-C15AE150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F6589-B9B3-A176-177C-A2C85DC9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2F30E-6273-F1D2-4478-9131C8E0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8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F45D-8BA3-59AF-04F1-5710D36C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6F3FF9-8088-A6DD-7962-A9E3788E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0288A-E4B4-B24E-0A35-5266E135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2E723-DF76-B1B7-0F89-274032EE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88417-2ABB-37CE-A4A1-84947E83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D8118-DC53-53CE-F03B-A4AE19AB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13F05-2A30-C34A-B3F2-F16299CC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1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F187-FCBC-E725-4B0C-AE6E36A9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5D5C-47AF-039B-2EB4-A9681E45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E6BC0-6A4A-0EF5-95E1-9A0000191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002FA-2E19-C1AB-CC13-11E33325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EA419-2A32-9D76-85B7-FA3DFE4B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E3947-A6E7-8B91-99F4-E819379B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3B16-41E6-9BCD-1EC3-C987A410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82609-96B2-C863-0791-E60845970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D966D-D18B-79C4-86DB-7BE80F2D8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F4B08-E314-ED5A-53A9-E1ED34FA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48FDB-0544-8056-A759-787E21C4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F885E-9F4D-A920-7A08-9F50AAC2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2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A24A-8DF0-B09F-386B-A1032E68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66D5B-3D7C-39E1-8FAA-FD6E3CDA5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52EC-56B5-8C93-CF17-D968516D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C21E3-4444-4D13-F08E-2DCD13E5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DFAC7-340E-1666-C5AC-F2DA515C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1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B9370-4558-1CEF-C942-29821EDE9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36EAA-4F92-70E5-C734-8AE2DC83A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6F85-2196-2DE1-15E2-AEEA6C24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4223F-A73C-A41A-0052-25A1F4A1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B6A7E-FEF9-5D15-0AB4-A2D29249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5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21355-44D8-295F-2E9A-AB1B356B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32E88-D13D-61D1-238C-E702D6AF1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C0060-D92B-FA29-A28B-C60AA6535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ABC11-4237-A549-BB53-4707F8654146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1A83C-F0E4-9ECF-8FF2-AB528BC08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47F2-26B3-9504-9459-6C7DC1663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0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emf"/><Relationship Id="rId7" Type="http://schemas.openxmlformats.org/officeDocument/2006/relationships/image" Target="../media/image6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11.emf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8588-9631-7247-90CD-4A9804958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H49 38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BD2D2-E7B5-E144-AF23-48953E8AA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6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C436DE-D8D4-B14E-BA18-2D86656859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59"/>
          <a:stretch/>
        </p:blipFill>
        <p:spPr>
          <a:xfrm>
            <a:off x="27605" y="2225488"/>
            <a:ext cx="12192000" cy="2110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437E4-D479-C54D-B9D3-111DC56C8F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52" b="24370"/>
          <a:stretch/>
        </p:blipFill>
        <p:spPr>
          <a:xfrm>
            <a:off x="279542" y="3911335"/>
            <a:ext cx="11186364" cy="1647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FF0957-1432-B24F-9914-D396A54417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58" t="6136" r="6284" b="89689"/>
          <a:stretch/>
        </p:blipFill>
        <p:spPr>
          <a:xfrm>
            <a:off x="279542" y="661006"/>
            <a:ext cx="11138427" cy="143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3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C3160-4418-309C-C74A-815C905AD7CB}"/>
              </a:ext>
            </a:extLst>
          </p:cNvPr>
          <p:cNvSpPr txBox="1"/>
          <p:nvPr/>
        </p:nvSpPr>
        <p:spPr>
          <a:xfrm>
            <a:off x="2594680" y="108589"/>
            <a:ext cx="778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HTF haplotype - O-antigen OBC genes presence/absence (m53 + h34)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10B34-0079-DA20-DA10-48C3AA4BE8DA}"/>
              </a:ext>
            </a:extLst>
          </p:cNvPr>
          <p:cNvSpPr txBox="1"/>
          <p:nvPr/>
        </p:nvSpPr>
        <p:spPr>
          <a:xfrm>
            <a:off x="4297987" y="1340086"/>
            <a:ext cx="22988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Tailocin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tail fiber haplotypes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F79EB-D7C2-E6A9-7C1C-C86069F4C829}"/>
              </a:ext>
            </a:extLst>
          </p:cNvPr>
          <p:cNvSpPr txBox="1"/>
          <p:nvPr/>
        </p:nvSpPr>
        <p:spPr>
          <a:xfrm rot="16200000">
            <a:off x="-1203921" y="3035790"/>
            <a:ext cx="2922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O-antigen biosynthesis cluster genes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0021C95-B209-0097-F8DF-F1D3E99B45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222" t="61175" r="17905" b="28891"/>
          <a:stretch/>
        </p:blipFill>
        <p:spPr>
          <a:xfrm>
            <a:off x="10772608" y="4238129"/>
            <a:ext cx="110019" cy="223236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29993C5-3DB5-E5C6-1421-625E408F3C24}"/>
              </a:ext>
            </a:extLst>
          </p:cNvPr>
          <p:cNvGrpSpPr/>
          <p:nvPr/>
        </p:nvGrpSpPr>
        <p:grpSpPr>
          <a:xfrm>
            <a:off x="10679156" y="2098936"/>
            <a:ext cx="837901" cy="1015663"/>
            <a:chOff x="10603005" y="2410712"/>
            <a:chExt cx="837901" cy="101566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08DB211-51A6-1B5A-F86E-DAD52F342D49}"/>
                </a:ext>
              </a:extLst>
            </p:cNvPr>
            <p:cNvGrpSpPr/>
            <p:nvPr/>
          </p:nvGrpSpPr>
          <p:grpSpPr>
            <a:xfrm>
              <a:off x="10603005" y="2410712"/>
              <a:ext cx="281284" cy="790047"/>
              <a:chOff x="3510549" y="5281684"/>
              <a:chExt cx="232012" cy="742532"/>
            </a:xfrm>
          </p:grpSpPr>
          <p:pic>
            <p:nvPicPr>
              <p:cNvPr id="12" name="Picture 11" descr="A group of colorful arrows&#10;&#10;Description automatically generated">
                <a:extLst>
                  <a:ext uri="{FF2B5EF4-FFF2-40B4-BE49-F238E27FC236}">
                    <a16:creationId xmlns:a16="http://schemas.microsoft.com/office/drawing/2014/main" id="{D92199C9-3E6D-7A26-B99F-D5D93157D1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82951" t="39385" r="15576" b="58324"/>
              <a:stretch/>
            </p:blipFill>
            <p:spPr>
              <a:xfrm>
                <a:off x="3542561" y="5847585"/>
                <a:ext cx="173285" cy="176631"/>
              </a:xfrm>
              <a:prstGeom prst="rect">
                <a:avLst/>
              </a:prstGeom>
            </p:spPr>
          </p:pic>
          <p:pic>
            <p:nvPicPr>
              <p:cNvPr id="13" name="Picture 12" descr="A group of colorful arrows&#10;&#10;Description automatically generated">
                <a:extLst>
                  <a:ext uri="{FF2B5EF4-FFF2-40B4-BE49-F238E27FC236}">
                    <a16:creationId xmlns:a16="http://schemas.microsoft.com/office/drawing/2014/main" id="{845DA57E-D7AD-F668-98A0-57BB67E8235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82646" t="25687" r="15318" b="67298"/>
              <a:stretch/>
            </p:blipFill>
            <p:spPr>
              <a:xfrm>
                <a:off x="3510549" y="5281684"/>
                <a:ext cx="232012" cy="559558"/>
              </a:xfrm>
              <a:prstGeom prst="rect">
                <a:avLst/>
              </a:prstGeom>
            </p:spPr>
          </p:pic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6E3A81C-B49C-2E35-E6AF-56AB310DB09E}"/>
                </a:ext>
              </a:extLst>
            </p:cNvPr>
            <p:cNvSpPr txBox="1"/>
            <p:nvPr/>
          </p:nvSpPr>
          <p:spPr>
            <a:xfrm>
              <a:off x="10781751" y="2410712"/>
              <a:ext cx="65915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n w="3175">
                    <a:solidFill>
                      <a:srgbClr val="D0B7D8"/>
                    </a:solidFill>
                  </a:ln>
                  <a:solidFill>
                    <a:srgbClr val="F7D7FE"/>
                  </a:solidFill>
                </a:rPr>
                <a:t>1830bp</a:t>
              </a:r>
            </a:p>
            <a:p>
              <a:r>
                <a:rPr lang="en-US" sz="1200" dirty="0">
                  <a:ln w="3175">
                    <a:solidFill>
                      <a:schemeClr val="accent1"/>
                    </a:solidFill>
                  </a:ln>
                  <a:solidFill>
                    <a:srgbClr val="638CCD"/>
                  </a:solidFill>
                </a:rPr>
                <a:t>1383bp</a:t>
              </a:r>
            </a:p>
            <a:p>
              <a:r>
                <a:rPr lang="en-US" sz="1200" dirty="0">
                  <a:ln w="3175">
                    <a:solidFill>
                      <a:srgbClr val="801033"/>
                    </a:solidFill>
                  </a:ln>
                  <a:solidFill>
                    <a:srgbClr val="801033"/>
                  </a:solidFill>
                </a:rPr>
                <a:t>1803bp</a:t>
              </a:r>
            </a:p>
            <a:p>
              <a:r>
                <a:rPr lang="en-US" sz="1200" dirty="0">
                  <a:ln w="3175">
                    <a:solidFill>
                      <a:srgbClr val="FAD42A"/>
                    </a:solidFill>
                  </a:ln>
                  <a:solidFill>
                    <a:srgbClr val="FAD42A"/>
                  </a:solidFill>
                </a:rPr>
                <a:t>1245bp</a:t>
              </a:r>
            </a:p>
            <a:p>
              <a:endParaRPr lang="en-US" sz="12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9E0DE90-EEA0-C8B6-838E-BDF30A8169F7}"/>
              </a:ext>
            </a:extLst>
          </p:cNvPr>
          <p:cNvSpPr txBox="1"/>
          <p:nvPr/>
        </p:nvSpPr>
        <p:spPr>
          <a:xfrm>
            <a:off x="11005096" y="4222984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969696"/>
                </a:solidFill>
              </a:rPr>
              <a:t>NA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A0D0A7-4309-9A28-576B-5EB695D24A7B}"/>
              </a:ext>
            </a:extLst>
          </p:cNvPr>
          <p:cNvSpPr txBox="1"/>
          <p:nvPr/>
        </p:nvSpPr>
        <p:spPr>
          <a:xfrm>
            <a:off x="10859584" y="4509694"/>
            <a:ext cx="13324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1A9E77"/>
                </a:solidFill>
              </a:rPr>
              <a:t>Modern</a:t>
            </a:r>
            <a:r>
              <a:rPr lang="en-US" sz="1000" dirty="0">
                <a:solidFill>
                  <a:srgbClr val="969696"/>
                </a:solidFill>
              </a:rPr>
              <a:t> </a:t>
            </a:r>
            <a:r>
              <a:rPr lang="en-US" sz="1000" dirty="0"/>
              <a:t>and</a:t>
            </a:r>
            <a:r>
              <a:rPr lang="en-US" sz="1000" dirty="0">
                <a:solidFill>
                  <a:srgbClr val="969696"/>
                </a:solidFill>
              </a:rPr>
              <a:t> </a:t>
            </a:r>
            <a:r>
              <a:rPr lang="en-US" sz="1000" dirty="0">
                <a:solidFill>
                  <a:srgbClr val="A6631A"/>
                </a:solidFill>
              </a:rPr>
              <a:t>historical</a:t>
            </a:r>
          </a:p>
        </p:txBody>
      </p:sp>
      <p:pic>
        <p:nvPicPr>
          <p:cNvPr id="20" name="Picture 19" descr="A group of colorful arrows&#10;&#10;Description automatically generated">
            <a:extLst>
              <a:ext uri="{FF2B5EF4-FFF2-40B4-BE49-F238E27FC236}">
                <a16:creationId xmlns:a16="http://schemas.microsoft.com/office/drawing/2014/main" id="{DF092AB4-1F89-BA34-1111-1DEA5E94FA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502" t="51099" r="2534" b="43959"/>
          <a:stretch/>
        </p:blipFill>
        <p:spPr>
          <a:xfrm>
            <a:off x="10690998" y="3772723"/>
            <a:ext cx="291085" cy="25404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C132624-54C9-D360-73F1-DFDE9729C89F}"/>
              </a:ext>
            </a:extLst>
          </p:cNvPr>
          <p:cNvSpPr txBox="1"/>
          <p:nvPr/>
        </p:nvSpPr>
        <p:spPr>
          <a:xfrm>
            <a:off x="10943150" y="3699691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Absent </a:t>
            </a:r>
          </a:p>
          <a:p>
            <a:r>
              <a:rPr lang="en-US" sz="1000" dirty="0"/>
              <a:t>Present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F88456-37D5-46BA-7922-00A6F125C6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7596" t="4" r="11099" b="23623"/>
          <a:stretch/>
        </p:blipFill>
        <p:spPr>
          <a:xfrm>
            <a:off x="10772608" y="4573217"/>
            <a:ext cx="130112" cy="111676"/>
          </a:xfrm>
          <a:prstGeom prst="rect">
            <a:avLst/>
          </a:prstGeom>
        </p:spPr>
      </p:pic>
      <p:pic>
        <p:nvPicPr>
          <p:cNvPr id="27" name="Picture 26" descr="A group of colorful objects&#10;&#10;Description automatically generated">
            <a:extLst>
              <a:ext uri="{FF2B5EF4-FFF2-40B4-BE49-F238E27FC236}">
                <a16:creationId xmlns:a16="http://schemas.microsoft.com/office/drawing/2014/main" id="{8984256A-E2DB-0B30-4FA0-EC8BAFC8739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6182" b="12342"/>
          <a:stretch/>
        </p:blipFill>
        <p:spPr>
          <a:xfrm>
            <a:off x="1281816" y="1726452"/>
            <a:ext cx="501497" cy="1291974"/>
          </a:xfrm>
          <a:prstGeom prst="rect">
            <a:avLst/>
          </a:prstGeom>
        </p:spPr>
      </p:pic>
      <p:pic>
        <p:nvPicPr>
          <p:cNvPr id="29" name="Picture 28" descr="A group of colorful objects&#10;&#10;Description automatically generated">
            <a:extLst>
              <a:ext uri="{FF2B5EF4-FFF2-40B4-BE49-F238E27FC236}">
                <a16:creationId xmlns:a16="http://schemas.microsoft.com/office/drawing/2014/main" id="{D7BFB14C-B454-B9BF-9E2C-CB3AAE7C98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011" r="51028" b="12342"/>
          <a:stretch/>
        </p:blipFill>
        <p:spPr>
          <a:xfrm>
            <a:off x="3052582" y="1726452"/>
            <a:ext cx="483457" cy="1291974"/>
          </a:xfrm>
          <a:prstGeom prst="rect">
            <a:avLst/>
          </a:prstGeom>
        </p:spPr>
      </p:pic>
      <p:pic>
        <p:nvPicPr>
          <p:cNvPr id="32" name="Picture 31" descr="A group of colorful objects&#10;&#10;Description automatically generated">
            <a:extLst>
              <a:ext uri="{FF2B5EF4-FFF2-40B4-BE49-F238E27FC236}">
                <a16:creationId xmlns:a16="http://schemas.microsoft.com/office/drawing/2014/main" id="{B3818528-4738-95AB-66E7-52528D73E53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04" t="1041" r="74135" b="11302"/>
          <a:stretch/>
        </p:blipFill>
        <p:spPr>
          <a:xfrm>
            <a:off x="8838271" y="1743972"/>
            <a:ext cx="483457" cy="1291974"/>
          </a:xfrm>
          <a:prstGeom prst="rect">
            <a:avLst/>
          </a:prstGeom>
        </p:spPr>
      </p:pic>
      <p:pic>
        <p:nvPicPr>
          <p:cNvPr id="36" name="Picture 35" descr="A group of colorful objects&#10;&#10;Description automatically generated">
            <a:extLst>
              <a:ext uri="{FF2B5EF4-FFF2-40B4-BE49-F238E27FC236}">
                <a16:creationId xmlns:a16="http://schemas.microsoft.com/office/drawing/2014/main" id="{2FF49F03-A5E6-677E-BB4C-263ACC40DC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6659" r="30180" b="12500"/>
          <a:stretch/>
        </p:blipFill>
        <p:spPr>
          <a:xfrm>
            <a:off x="5818999" y="1726452"/>
            <a:ext cx="277001" cy="128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93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4CF3C7C-B940-3543-A4B2-A4C20EC83033}"/>
              </a:ext>
            </a:extLst>
          </p:cNvPr>
          <p:cNvGrpSpPr/>
          <p:nvPr/>
        </p:nvGrpSpPr>
        <p:grpSpPr>
          <a:xfrm>
            <a:off x="405708" y="1633981"/>
            <a:ext cx="10124580" cy="3050078"/>
            <a:chOff x="27606" y="788790"/>
            <a:chExt cx="11447391" cy="309003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C436DE-D8D4-B14E-BA18-2D86656859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0859" r="6426" b="28514"/>
            <a:stretch/>
          </p:blipFill>
          <p:spPr>
            <a:xfrm>
              <a:off x="27606" y="2225488"/>
              <a:ext cx="11408546" cy="143526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5F437E4-D479-C54D-B9D3-111DC56C8F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852" b="24370"/>
            <a:stretch/>
          </p:blipFill>
          <p:spPr>
            <a:xfrm>
              <a:off x="288633" y="3765681"/>
              <a:ext cx="11186364" cy="11313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CFF0957-1432-B24F-9914-D396A54417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58" t="6136" r="6284" b="89689"/>
            <a:stretch/>
          </p:blipFill>
          <p:spPr>
            <a:xfrm>
              <a:off x="312602" y="788790"/>
              <a:ext cx="11138427" cy="1435261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546E61E-1691-624C-9056-848C524016FF}"/>
              </a:ext>
            </a:extLst>
          </p:cNvPr>
          <p:cNvSpPr txBox="1"/>
          <p:nvPr/>
        </p:nvSpPr>
        <p:spPr>
          <a:xfrm>
            <a:off x="1555954" y="596271"/>
            <a:ext cx="7782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HTF haplotype - O-antigen OBC genes presence/absence (m53 + h34)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6F9778-43B0-B940-88FA-2DCF871B3045}"/>
              </a:ext>
            </a:extLst>
          </p:cNvPr>
          <p:cNvSpPr txBox="1"/>
          <p:nvPr/>
        </p:nvSpPr>
        <p:spPr>
          <a:xfrm>
            <a:off x="4297987" y="1340086"/>
            <a:ext cx="22988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Tailocin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tail fiber haplotypes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921C70-7C4D-8B4C-BE2C-5FD9791E3554}"/>
              </a:ext>
            </a:extLst>
          </p:cNvPr>
          <p:cNvSpPr txBox="1"/>
          <p:nvPr/>
        </p:nvSpPr>
        <p:spPr>
          <a:xfrm rot="16200000">
            <a:off x="-1203921" y="3035790"/>
            <a:ext cx="2922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O-antigen biosynthesis cluster genes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35AF57F-6999-7947-BBDA-C1D00DFE92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1222" t="61175" r="17905" b="28891"/>
          <a:stretch/>
        </p:blipFill>
        <p:spPr>
          <a:xfrm>
            <a:off x="10772608" y="4238129"/>
            <a:ext cx="110019" cy="223236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E8F8BCF2-C964-BB45-A3AC-DB2F3AE73731}"/>
              </a:ext>
            </a:extLst>
          </p:cNvPr>
          <p:cNvGrpSpPr/>
          <p:nvPr/>
        </p:nvGrpSpPr>
        <p:grpSpPr>
          <a:xfrm>
            <a:off x="10679156" y="2098936"/>
            <a:ext cx="837901" cy="1015663"/>
            <a:chOff x="10603005" y="2410712"/>
            <a:chExt cx="837901" cy="101566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56F75F6-7AE4-4242-9385-6F8D8862E61F}"/>
                </a:ext>
              </a:extLst>
            </p:cNvPr>
            <p:cNvGrpSpPr/>
            <p:nvPr/>
          </p:nvGrpSpPr>
          <p:grpSpPr>
            <a:xfrm>
              <a:off x="10603005" y="2410712"/>
              <a:ext cx="281284" cy="790047"/>
              <a:chOff x="3510549" y="5281684"/>
              <a:chExt cx="232012" cy="742532"/>
            </a:xfrm>
          </p:grpSpPr>
          <p:pic>
            <p:nvPicPr>
              <p:cNvPr id="43" name="Picture 42" descr="A group of colorful arrows&#10;&#10;Description automatically generated">
                <a:extLst>
                  <a:ext uri="{FF2B5EF4-FFF2-40B4-BE49-F238E27FC236}">
                    <a16:creationId xmlns:a16="http://schemas.microsoft.com/office/drawing/2014/main" id="{B45D8552-8C48-6B49-B285-31BBEAB8C8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82951" t="39385" r="15576" b="58324"/>
              <a:stretch/>
            </p:blipFill>
            <p:spPr>
              <a:xfrm>
                <a:off x="3542561" y="5847585"/>
                <a:ext cx="173285" cy="176631"/>
              </a:xfrm>
              <a:prstGeom prst="rect">
                <a:avLst/>
              </a:prstGeom>
            </p:spPr>
          </p:pic>
          <p:pic>
            <p:nvPicPr>
              <p:cNvPr id="44" name="Picture 43" descr="A group of colorful arrows&#10;&#10;Description automatically generated">
                <a:extLst>
                  <a:ext uri="{FF2B5EF4-FFF2-40B4-BE49-F238E27FC236}">
                    <a16:creationId xmlns:a16="http://schemas.microsoft.com/office/drawing/2014/main" id="{574D277B-C219-BB4C-8992-C94FB7F565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82646" t="25687" r="15318" b="67298"/>
              <a:stretch/>
            </p:blipFill>
            <p:spPr>
              <a:xfrm>
                <a:off x="3510549" y="5281684"/>
                <a:ext cx="232012" cy="559558"/>
              </a:xfrm>
              <a:prstGeom prst="rect">
                <a:avLst/>
              </a:prstGeom>
            </p:spPr>
          </p:pic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AD1FC7D-551C-0E49-939B-33E0DFCCC489}"/>
                </a:ext>
              </a:extLst>
            </p:cNvPr>
            <p:cNvSpPr txBox="1"/>
            <p:nvPr/>
          </p:nvSpPr>
          <p:spPr>
            <a:xfrm>
              <a:off x="10781751" y="2410712"/>
              <a:ext cx="65915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n w="3175">
                    <a:solidFill>
                      <a:srgbClr val="D0B7D8"/>
                    </a:solidFill>
                  </a:ln>
                  <a:solidFill>
                    <a:srgbClr val="F7D7FE"/>
                  </a:solidFill>
                </a:rPr>
                <a:t>1830bp</a:t>
              </a:r>
            </a:p>
            <a:p>
              <a:r>
                <a:rPr lang="en-US" sz="1200" dirty="0">
                  <a:ln w="3175">
                    <a:solidFill>
                      <a:schemeClr val="accent1"/>
                    </a:solidFill>
                  </a:ln>
                  <a:solidFill>
                    <a:srgbClr val="638CCD"/>
                  </a:solidFill>
                </a:rPr>
                <a:t>1383bp</a:t>
              </a:r>
            </a:p>
            <a:p>
              <a:r>
                <a:rPr lang="en-US" sz="1200" dirty="0">
                  <a:ln w="3175">
                    <a:solidFill>
                      <a:srgbClr val="801033"/>
                    </a:solidFill>
                  </a:ln>
                  <a:solidFill>
                    <a:srgbClr val="801033"/>
                  </a:solidFill>
                </a:rPr>
                <a:t>1803bp</a:t>
              </a:r>
            </a:p>
            <a:p>
              <a:r>
                <a:rPr lang="en-US" sz="1200" dirty="0">
                  <a:ln w="3175">
                    <a:solidFill>
                      <a:srgbClr val="FAD42A"/>
                    </a:solidFill>
                  </a:ln>
                  <a:solidFill>
                    <a:srgbClr val="FAD42A"/>
                  </a:solidFill>
                </a:rPr>
                <a:t>1245bp</a:t>
              </a:r>
            </a:p>
            <a:p>
              <a:endParaRPr lang="en-US" sz="1200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58403EF-894A-9A41-BD42-E4067692DD49}"/>
              </a:ext>
            </a:extLst>
          </p:cNvPr>
          <p:cNvSpPr txBox="1"/>
          <p:nvPr/>
        </p:nvSpPr>
        <p:spPr>
          <a:xfrm>
            <a:off x="11005096" y="4222984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969696"/>
                </a:solidFill>
              </a:rPr>
              <a:t>NA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187764-A0C5-F34A-A9D7-06E3E26CB97B}"/>
              </a:ext>
            </a:extLst>
          </p:cNvPr>
          <p:cNvSpPr txBox="1"/>
          <p:nvPr/>
        </p:nvSpPr>
        <p:spPr>
          <a:xfrm>
            <a:off x="10859584" y="4509694"/>
            <a:ext cx="13324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1A9E77"/>
                </a:solidFill>
              </a:rPr>
              <a:t>Modern</a:t>
            </a:r>
            <a:r>
              <a:rPr lang="en-US" sz="1000" dirty="0">
                <a:solidFill>
                  <a:srgbClr val="969696"/>
                </a:solidFill>
              </a:rPr>
              <a:t> </a:t>
            </a:r>
            <a:r>
              <a:rPr lang="en-US" sz="1000" dirty="0"/>
              <a:t>and</a:t>
            </a:r>
            <a:r>
              <a:rPr lang="en-US" sz="1000" dirty="0">
                <a:solidFill>
                  <a:srgbClr val="969696"/>
                </a:solidFill>
              </a:rPr>
              <a:t> </a:t>
            </a:r>
            <a:r>
              <a:rPr lang="en-US" sz="1000" dirty="0">
                <a:solidFill>
                  <a:srgbClr val="A6631A"/>
                </a:solidFill>
              </a:rPr>
              <a:t>historical</a:t>
            </a:r>
          </a:p>
        </p:txBody>
      </p:sp>
      <p:pic>
        <p:nvPicPr>
          <p:cNvPr id="47" name="Picture 46" descr="A group of colorful arrows&#10;&#10;Description automatically generated">
            <a:extLst>
              <a:ext uri="{FF2B5EF4-FFF2-40B4-BE49-F238E27FC236}">
                <a16:creationId xmlns:a16="http://schemas.microsoft.com/office/drawing/2014/main" id="{4B5E3BA4-C9CE-724D-AD55-BFB7FCA19E3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3502" t="51099" r="2534" b="43959"/>
          <a:stretch/>
        </p:blipFill>
        <p:spPr>
          <a:xfrm>
            <a:off x="10690998" y="3772723"/>
            <a:ext cx="291085" cy="25404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A646863-0246-9349-9F2C-ABCE1DAE3E66}"/>
              </a:ext>
            </a:extLst>
          </p:cNvPr>
          <p:cNvSpPr txBox="1"/>
          <p:nvPr/>
        </p:nvSpPr>
        <p:spPr>
          <a:xfrm>
            <a:off x="10943150" y="3699691"/>
            <a:ext cx="5838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Absent </a:t>
            </a:r>
          </a:p>
          <a:p>
            <a:r>
              <a:rPr lang="en-US" sz="1000" dirty="0"/>
              <a:t>Present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20931E2-3561-4D49-B509-31A9AB02DB5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7596" t="4" r="11099" b="23623"/>
          <a:stretch/>
        </p:blipFill>
        <p:spPr>
          <a:xfrm>
            <a:off x="10772608" y="4573217"/>
            <a:ext cx="130112" cy="111676"/>
          </a:xfrm>
          <a:prstGeom prst="rect">
            <a:avLst/>
          </a:prstGeom>
        </p:spPr>
      </p:pic>
      <p:pic>
        <p:nvPicPr>
          <p:cNvPr id="50" name="Picture 49" descr="A group of colorful objects&#10;&#10;Description automatically generated">
            <a:extLst>
              <a:ext uri="{FF2B5EF4-FFF2-40B4-BE49-F238E27FC236}">
                <a16:creationId xmlns:a16="http://schemas.microsoft.com/office/drawing/2014/main" id="{ED1F628D-D433-994C-8450-C03A8A523EB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6182" b="12342"/>
          <a:stretch/>
        </p:blipFill>
        <p:spPr>
          <a:xfrm>
            <a:off x="1281816" y="1726452"/>
            <a:ext cx="501497" cy="1291974"/>
          </a:xfrm>
          <a:prstGeom prst="rect">
            <a:avLst/>
          </a:prstGeom>
        </p:spPr>
      </p:pic>
      <p:pic>
        <p:nvPicPr>
          <p:cNvPr id="51" name="Picture 50" descr="A group of colorful objects&#10;&#10;Description automatically generated">
            <a:extLst>
              <a:ext uri="{FF2B5EF4-FFF2-40B4-BE49-F238E27FC236}">
                <a16:creationId xmlns:a16="http://schemas.microsoft.com/office/drawing/2014/main" id="{FA875CAE-28F8-AB44-B27F-F3B9A57E482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6011" r="51028" b="12342"/>
          <a:stretch/>
        </p:blipFill>
        <p:spPr>
          <a:xfrm>
            <a:off x="3052582" y="1726452"/>
            <a:ext cx="483457" cy="1291974"/>
          </a:xfrm>
          <a:prstGeom prst="rect">
            <a:avLst/>
          </a:prstGeom>
        </p:spPr>
      </p:pic>
      <p:pic>
        <p:nvPicPr>
          <p:cNvPr id="52" name="Picture 51" descr="A group of colorful objects&#10;&#10;Description automatically generated">
            <a:extLst>
              <a:ext uri="{FF2B5EF4-FFF2-40B4-BE49-F238E27FC236}">
                <a16:creationId xmlns:a16="http://schemas.microsoft.com/office/drawing/2014/main" id="{BEEDA234-D033-B64E-8E24-70BF914628B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904" t="1041" r="74135" b="11302"/>
          <a:stretch/>
        </p:blipFill>
        <p:spPr>
          <a:xfrm>
            <a:off x="8838271" y="1743972"/>
            <a:ext cx="483457" cy="1291974"/>
          </a:xfrm>
          <a:prstGeom prst="rect">
            <a:avLst/>
          </a:prstGeom>
        </p:spPr>
      </p:pic>
      <p:pic>
        <p:nvPicPr>
          <p:cNvPr id="53" name="Picture 52" descr="A group of colorful objects&#10;&#10;Description automatically generated">
            <a:extLst>
              <a:ext uri="{FF2B5EF4-FFF2-40B4-BE49-F238E27FC236}">
                <a16:creationId xmlns:a16="http://schemas.microsoft.com/office/drawing/2014/main" id="{D4D51415-0E59-7D41-8C7D-934907CC10C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6659" r="30180" b="12500"/>
          <a:stretch/>
        </p:blipFill>
        <p:spPr>
          <a:xfrm>
            <a:off x="5818999" y="1726452"/>
            <a:ext cx="277001" cy="128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52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6439232332249822FBB3717BF308A" ma:contentTypeVersion="15" ma:contentTypeDescription="Create a new document." ma:contentTypeScope="" ma:versionID="701781068bddb0acf2f4ccc9e7a6a799">
  <xsd:schema xmlns:xsd="http://www.w3.org/2001/XMLSchema" xmlns:xs="http://www.w3.org/2001/XMLSchema" xmlns:p="http://schemas.microsoft.com/office/2006/metadata/properties" xmlns:ns2="ac5dfaab-0878-459b-b0b1-00a629eabd85" xmlns:ns3="4c318972-60f5-4afa-98f6-c19520574e57" targetNamespace="http://schemas.microsoft.com/office/2006/metadata/properties" ma:root="true" ma:fieldsID="1e97419e04d06508345b0a854171ee4d" ns2:_="" ns3:_="">
    <xsd:import namespace="ac5dfaab-0878-459b-b0b1-00a629eabd85"/>
    <xsd:import namespace="4c318972-60f5-4afa-98f6-c19520574e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5dfaab-0878-459b-b0b1-00a629eabd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18972-60f5-4afa-98f6-c19520574e5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0052e06-4aa5-4288-809d-4048ac8df144}" ma:internalName="TaxCatchAll" ma:showField="CatchAllData" ma:web="4c318972-60f5-4afa-98f6-c19520574e5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318972-60f5-4afa-98f6-c19520574e57" xsi:nil="true"/>
    <lcf76f155ced4ddcb4097134ff3c332f xmlns="ac5dfaab-0878-459b-b0b1-00a629eabd8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9549F9B-1475-4ADC-97CC-10031B869B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5dfaab-0878-459b-b0b1-00a629eabd85"/>
    <ds:schemaRef ds:uri="4c318972-60f5-4afa-98f6-c19520574e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564D8D-6CAA-45DD-B2E6-6B9B67D9E6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79B129-5F64-4169-A8A6-BBD9F9947508}">
  <ds:schemaRefs>
    <ds:schemaRef ds:uri="http://schemas.microsoft.com/office/2006/metadata/properties"/>
    <ds:schemaRef ds:uri="http://schemas.microsoft.com/office/infopath/2007/PartnerControls"/>
    <ds:schemaRef ds:uri="4c318972-60f5-4afa-98f6-c19520574e57"/>
    <ds:schemaRef ds:uri="ac5dfaab-0878-459b-b0b1-00a629eabd8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24378</TotalTime>
  <Words>66</Words>
  <Application>Microsoft Macintosh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H49 38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Cui, Jiajun</dc:creator>
  <cp:lastModifiedBy>Cui, Jiajun</cp:lastModifiedBy>
  <cp:revision>33</cp:revision>
  <dcterms:created xsi:type="dcterms:W3CDTF">2025-05-07T01:06:08Z</dcterms:created>
  <dcterms:modified xsi:type="dcterms:W3CDTF">2025-10-27T04:52:27Z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0x0101009FE6439232332249822FBB3717BF308A</vt:lpwstr>
  </property>
</Properties>
</file>